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Revenue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EB6D9"/>
                </a:solidFill>
              </a:defRPr>
            </a:pPr>
            <a:r>
              <a:t>AI-Driven 5-Year Revenue Forecasting Framework</a:t>
            </a:r>
            <a:br/>
            <a:r>
              <a:t>for Digital Advertising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EB6D9"/>
                </a:solidFill>
              </a:defRPr>
            </a:pPr>
            <a:r>
              <a:t>March 2026  |  Strategic Planning &amp; Revenue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AI-driven capabilities add ~$34B incremental revenue by 2030, growing total advertising revenue at 11% CAGR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$309B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2030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11.0%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AI Contribution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11.4%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5-Year CAGR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19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3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24.1%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Market Share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</a:defRPr>
            </a:pPr>
            <a:r>
              <a:t>Growth decelerates from 15% (2025) to 10% (2030) as the base matures, with AI channels contributing an increasing share. The forecast blends Holt-Winters exponential smoothing with mean-reverting growth rates, overlaid by Bass diffusion AI adoption models across six channels. Risk quantification via 10,000 correlated Monte Carlo simulations yields P10-P90 range of $212B-$391B for 2030.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filings (2019-2024), proprietary forecasting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The $740B digital ad market is projected to reach $1.4T by 2030, with AI expanding the total addressable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Global digital advertising grew 10.7% CAGR over the past 5 years and is expected to maintain high single-digit growth as AI creates net-new inventory and lowers SMB entry barriers.</a:t>
            </a:r>
            <a:br/>
            <a:br/>
            <a:r>
              <a:t>Key structural shifts:</a:t>
            </a:r>
            <a:br/>
            <a:r>
              <a:t>• Social format growing at 10% vs. search at 6%</a:t>
            </a:r>
            <a:br/>
            <a:r>
              <a:t>• Retail media emerging at 18% CAGR</a:t>
            </a:r>
            <a:br/>
            <a:r>
              <a:t>• AI-native ad formats growing at 45% from a small base</a:t>
            </a:r>
            <a:br/>
            <a:r>
              <a:t>• Privacy regulation reshaping the signal landscape</a:t>
            </a:r>
          </a:p>
        </p:txBody>
      </p:sp>
      <p:pic>
        <p:nvPicPr>
          <p:cNvPr id="4" name="Picture 3" descr="market_shar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eMarketer, Zenith Media, internal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Advertising revenue grew 131% from 2019 to 2024, driven by mobile, video, and programmatic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Revenue trajectory ($B):</a:t>
            </a:r>
            <a:br/>
            <a:r>
              <a:t>  2019:  $69.7B</a:t>
            </a:r>
            <a:br/>
            <a:r>
              <a:t>  2020:  $84.2B  (+21%)</a:t>
            </a:r>
            <a:br/>
            <a:r>
              <a:t>  2021:  $114.9B (+37%)</a:t>
            </a:r>
            <a:br/>
            <a:r>
              <a:t>  2022:  $113.6B (-1%) — ATT impact</a:t>
            </a:r>
            <a:br/>
            <a:r>
              <a:t>  2023:  $132.0B (+16%) — recovery</a:t>
            </a:r>
            <a:br/>
            <a:r>
              <a:t>  2024:  $160.9B (+22%) — AI products</a:t>
            </a:r>
            <a:br/>
            <a:br/>
            <a:r>
              <a:t>The 2022 dip and 2024 recovery demonstrate the platform's resilience and the revenue impact of AI-powered ad products (Advantage+).</a:t>
            </a:r>
          </a:p>
        </p:txBody>
      </p:sp>
      <p:pic>
        <p:nvPicPr>
          <p:cNvPr id="4" name="Picture 3" descr="reven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annual filings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 three-layer ensemble approach combines statistical rigor with domain-specific AI adoption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1: Holt-Winters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Triple exponential smoothing with multiplicative seasonality and damped trend (φ=0.88). Captures Q4 holiday spikes and organic growth trajectory. Blended with Ornstein-Uhlenbeck mean-reverting growth rates to prevent long-horizon extrapolation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2: Bass Diffusion AI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Six AI revenue channels modeled via Bass diffusion: F(t) = [1-e^{-(p+q)t}] / [1+(q/p)e^{-(p+q)t}]. Innovation (p) and imitation (q) coefficients calibrated per channel maturity. Cross-channel cannibalization matrix nets out displacement effects.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3: Correlated Monte Carlo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10,000 scenarios via Cholesky-decomposed correlated risk factors. Five dimensions: macro growth, AI adoption speed, competitive intensity, regulatory drag, and privacy signal loss. Correlation structure captures interdependencies (e.g., ρ=0.45 between regulation and privacy).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See Appendix for full algorithm specification and parameter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Base case projects $309B by 2030, with growth decelerating from 15% to 10% as the revenue base matures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Year-by-year projection ($B):</a:t>
            </a:r>
            <a:br/>
            <a:r>
              <a:t>  2025:  $187B  (15.3% YoY)</a:t>
            </a:r>
            <a:br/>
            <a:r>
              <a:t>  2026:  $210B  (12.3%)</a:t>
            </a:r>
            <a:br/>
            <a:r>
              <a:t>  2027:  $232B  (10.6%)</a:t>
            </a:r>
            <a:br/>
            <a:r>
              <a:t>  2028:  $256B  (10.1%)</a:t>
            </a:r>
            <a:br/>
            <a:r>
              <a:t>  2029:  $281B  (10.0%)</a:t>
            </a:r>
            <a:br/>
            <a:r>
              <a:t>  2030:  $309B  (10.0%)</a:t>
            </a:r>
            <a:br/>
            <a:br/>
            <a:r>
              <a:t>Growth rate mean-reverts toward 5.5% long-run equilibrium via O-U process. Near-term momentum from Advantage+ and Reels sustains double-digit growth through 2028.</a:t>
            </a:r>
          </a:p>
        </p:txBody>
      </p:sp>
      <p:pic>
        <p:nvPicPr>
          <p:cNvPr id="4" name="Picture 3" descr="reven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Ensemble forecast (Holt-Winters + mean-reversion blend)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AI targeting and measurement drive 90%+ of AI revenue; nascent channels represent long-term optionality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2030 AI channel contribution ($B):</a:t>
            </a:r>
            <a:br/>
            <a:r>
              <a:t>  AI Targeting (Advantage+):     $22.5B  (66%)</a:t>
            </a:r>
            <a:br/>
            <a:r>
              <a:t>  AI Measurement &amp; Attribution:  $14.9B  (27%)</a:t>
            </a:r>
            <a:br/>
            <a:r>
              <a:t>  AI Creative Generation:        $1.8B   (5%)</a:t>
            </a:r>
            <a:br/>
            <a:r>
              <a:t>  AI Business Messaging:         $0.6B   (2%)</a:t>
            </a:r>
            <a:br/>
            <a:r>
              <a:t>  AI-Native Surfaces:            $0.1B   (&lt;1%)</a:t>
            </a:r>
            <a:br/>
            <a:r>
              <a:t>  AI Infrastructure APIs:        $0.1B   (&lt;1%)</a:t>
            </a:r>
            <a:br/>
            <a:br/>
            <a:r>
              <a:t>Bass diffusion parameters reflect maturity: targeting (p=0.04, q=0.42) reaches 85% ceiling; nascent surfaces (p=0.015, q=0.28) have longer runway.</a:t>
            </a:r>
          </a:p>
        </p:txBody>
      </p:sp>
      <p:pic>
        <p:nvPicPr>
          <p:cNvPr id="4" name="Picture 3" descr="ai_adop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Bass diffusion model calibrated to observed adoption curves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US &amp; Canada generates 47% of revenue, but APAC shows highest growth potential with rising ARPU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47%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US &amp;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$82 ARPU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Europe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$23 ARPU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APAC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$6 ARPU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Rest of 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$4 ARPU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APAC ARPU at $6 vs. $82 in US represents 13x headroom. Regional AI adoption varies: US leads at ~65% by 2030, Europe constrained by GDPR at ~50%, APAC accelerating with mobile-first markets.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10-K regional breakdowns, internal ARPU calculations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Top-down and bottom-up projections converge within 3%, validating the 24% market share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Reconciliation framework:</a:t>
            </a:r>
            <a:br/>
            <a:r>
              <a:t>  Top-down: $1.4T TAM × 24.1% = $329B</a:t>
            </a:r>
            <a:br/>
            <a:r>
              <a:t>  Bottom-up: Channel build = $309B</a:t>
            </a:r>
            <a:br/>
            <a:r>
              <a:t>  Gap: 6% → indicates modest upside optionality</a:t>
            </a:r>
            <a:br/>
            <a:br/>
            <a:r>
              <a:t>Share tailwinds (+2.1% annual):</a:t>
            </a:r>
            <a:br/>
            <a:r>
              <a:t>  AI product superiority, messaging commerce,</a:t>
            </a:r>
            <a:br/>
            <a:r>
              <a:t>  short-video capture, SMB acquisition</a:t>
            </a:r>
            <a:br/>
            <a:br/>
            <a:r>
              <a:t>Share headwinds (-1.7% annual):</a:t>
            </a:r>
            <a:br/>
            <a:r>
              <a:t>  Retail media migration, search AI disruption,</a:t>
            </a:r>
            <a:br/>
            <a:r>
              <a:t>  regulatory share caps, CTV brand budgets</a:t>
            </a:r>
          </a:p>
        </p:txBody>
      </p:sp>
      <p:pic>
        <p:nvPicPr>
          <p:cNvPr id="4" name="Picture 3" descr="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Market sizing model, competitive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Privacy signal loss reaches 27% in US by 2030, but AI-based recovery mechanisms offset most of 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Signal degradation factors:</a:t>
            </a:r>
            <a:br/>
            <a:r>
              <a:t>  • OS-level restrictions (ATT-style): 20% signal loss</a:t>
            </a:r>
            <a:br/>
            <a:r>
              <a:t>  • Regulatory consent decay: 3% annual</a:t>
            </a:r>
            <a:br/>
            <a:r>
              <a:t>  • Cookie deprecation: 12% by 2027</a:t>
            </a:r>
            <a:br/>
            <a:r>
              <a:t>  • User privacy adoption: 5% annual growth</a:t>
            </a:r>
            <a:br/>
            <a:br/>
            <a:r>
              <a:t>AI-powered recovery mechanisms:</a:t>
            </a:r>
            <a:br/>
            <a:r>
              <a:t>  • On-device inference: 30% recovery</a:t>
            </a:r>
            <a:br/>
            <a:r>
              <a:t>  • Probabilistic modeling: 85% accuracy</a:t>
            </a:r>
            <a:br/>
            <a:r>
              <a:t>  • Privacy-enhancing technologies: 20% recovery</a:t>
            </a:r>
            <a:br/>
            <a:r>
              <a:t>  • First-party data enrichment: 1.25x amplification</a:t>
            </a:r>
            <a:br/>
            <a:br/>
            <a:r>
              <a:t>Net privacy multiplier by region (2030):</a:t>
            </a:r>
            <a:br/>
            <a:r>
              <a:t>  US: 0.73x  |  EU: 0.72x  |  APAC: 0.79x</a:t>
            </a:r>
          </a:p>
        </p:txBody>
      </p:sp>
      <p:pic>
        <p:nvPicPr>
          <p:cNvPr id="4" name="Picture 3" descr="privacy_multiplier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Regulatory scenario modeling, privacy tech landscape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Integrity investment of 3% of revenue sustains an integrity score above 65, preventing CPM erosion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7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Integrity Health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Composite score (0-100) tracking: ad authenticity rate, bot detection coverage, fraud prevention efficacy, and content quality distribution. Score declines from 76 (2024) to 68 (2030) under base case as AI-generated misinformation grows 15% annually. Each 10-point drop costs ~1.5% CPM.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54864" cy="16459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207007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Brand Safety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AI content classification, contextual relevance scoring, and viewability standards. Brand safety incidents trigger advertiser spend pullback at 0.3x elasticity. Proactive detection reduces incident frequency by 60% vs. reactive approach.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272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Investment ROI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3% of revenue ($6.5B by 2030) allocated to integrity infrastructure. Payback: every $1 invested prevents $3.2 in CPM erosion and advertiser churn. 2-quarter lag between investment and score improvement creates planning constraint.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0175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017520"/>
            <a:ext cx="54864" cy="14630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12724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Feedback Loop 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Higher integrity → better ad quality → higher trust → stronger CPM → more revenue → more investment capacity. The virtuous cycle compounds: a 5-point score improvement generates ~$800M annual revenue uplift through CPM preservation.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Internal integrity metrics, advertiser survey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Monte Carlo simulation yields $212B-$391B range (P10-P90), with regulatory drag as the widest uncertainty band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Bull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6A34A"/>
                </a:solidFill>
              </a:defRPr>
            </a:pPr>
            <a:r>
              <a:t>$348B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13.7% CAGR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Base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2761"/>
                </a:solidFill>
              </a:defRPr>
            </a:pPr>
            <a:r>
              <a:t>$309B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11.4% CAGR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Bear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</a:defRPr>
            </a:pPr>
            <a:r>
              <a:t>$258B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8.2%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Key sensitivity drivers (5-year cumulative impact):</a:t>
            </a:r>
            <a:br/>
            <a:r>
              <a:t>  Macro growth rate:         -10% to +11%</a:t>
            </a:r>
            <a:br/>
            <a:r>
              <a:t>  Regulatory drag:           -7% to -34%  (widest uncertainty)</a:t>
            </a:r>
            <a:br/>
            <a:r>
              <a:t>  Privacy signal loss:       up to -25%</a:t>
            </a:r>
            <a:br/>
            <a:r>
              <a:t>  Competitive intensity:     -12% to +12%</a:t>
            </a:r>
            <a:br/>
            <a:r>
              <a:t>  AI adoption speed:         -4% to +4%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Correlated Monte Carlo simulation (10,000 runs, Cholesky decomposition)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Four strategic imperatives emerge from the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566928" y="100584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05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Accelerate AI Ad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Invest in proprietary AI for creative generation and targeting. AI channels represent $34B opportunity by 2030 — first-mover advantage in Advantage+ and AI-native surfaces is the highest-leverage bet.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1440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4864608" y="100584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00584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005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Build Privacy-Preserving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371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Signal loss of 27% in US by 2030 requires pre-emptive investment. On-device inference, probabilistic modeling, and PETs can recover 75% of lost signal — the gap determines whether revenue drag is 5% or 20%.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566928" y="292608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2608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26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Scale Integrity as a Revenue Enabler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91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At 3% of revenue, integrity spend prevents 3.2x that in CPM erosion. As AI-generated content grows, proactive investment in trust infrastructure is a competitive moat, not a cost center.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4864608" y="292608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292608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926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Monitor Competitive 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291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Retail media (+18% CAGR) and AI-native search formats are the fastest-growing competitive threats. Budget migration tracking and rapid feature parity in AI ad tools are essential to defending share.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A: Key assumptions and data sources underlying the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4023360"/>
              </a:tblGrid>
              <a:tr h="4343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Organic Growth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O-U mean-reversion model (θ=5.5%, κ=0.50)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AI Revenue Share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Bass diffusion (6 channels)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Privacy Signal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-27%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Regulatory scenario modeling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Market Share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22.1%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24.1%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Top-down TAM × share framework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AI Adoption (Targeting)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Bass diffusion (p=0.04, q=0.42)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Integrity Score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75/100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68/100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Content quality decay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Digital Ad 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$819B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$1,365B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Format-weighted market sizing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filings (2019-2024), eMarketer, proprietary models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B: Forecasting algorithm — ensemble of four statistical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886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1. Holt-Winters Triple Exponential Smoothing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Decomposes quarterly revenue into level (Lt), trend (Tt), and seasonal (St) components with multiplicative seasonality:</a:t>
            </a:r>
            <a:br/>
            <a:r>
              <a:t>  Lt = α(Yt/St-m) + (1-α)(Lt-1 + φTt-1)</a:t>
            </a:r>
            <a:br/>
            <a:r>
              <a:t>  Tt = β(Lt - Lt-1) + (1-β)φTt-1</a:t>
            </a:r>
            <a:br/>
            <a:r>
              <a:t>  St = γ(Yt/Lt) + (1-γ)St-m</a:t>
            </a:r>
            <a:br/>
            <a:r>
              <a:t>Parameters: α=0.40, β=0.15, γ=0.30, φ=0.88 (damped trend).</a:t>
            </a:r>
            <a:br/>
            <a:r>
              <a:t>Damping prevents runaway extrapolation over the 5-year horizon.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005840"/>
            <a:ext cx="54864" cy="1828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1556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2. Ornstein-Uhlenbeck Mean-Reverting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794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Growth rate follows a mean-reverting stochastic process:</a:t>
            </a:r>
            <a:br/>
            <a:r>
              <a:t>  dg = κ(θ - g)dt + σdW</a:t>
            </a:r>
            <a:br/>
            <a:r>
              <a:t>where g₀=21.9% (2024), θ=5.5% (long-run equilibrium),</a:t>
            </a:r>
            <a:br/>
            <a:r>
              <a:t>κ=0.50 (reversion speed), σ=1.5% (volatility).</a:t>
            </a:r>
            <a:br/>
            <a:r>
              <a:t>Ensemble: HW weight 60%→20% (near→far), MR weight 40%→80%.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3886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3. Bass Diffusion (AI Adoption)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Technology adoption follows:</a:t>
            </a:r>
            <a:br/>
            <a:r>
              <a:t>  F(t) = [1-e^{-(p+q)t}] / [1+(q/p)e^{-(p+q)t}]</a:t>
            </a:r>
            <a:br/>
            <a:r>
              <a:t>p = innovation (0.015-0.04), q = imitation (0.28-0.42).</a:t>
            </a:r>
            <a:br/>
            <a:r>
              <a:t>Each of 6 AI channels independently parameterized.</a:t>
            </a:r>
            <a:br/>
            <a:r>
              <a:t>Cannibalization matrix applied post-adoption to net out displacement.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1089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108960"/>
            <a:ext cx="54864" cy="16459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21868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4. Correlated Monte Carlo (Cholesky)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6616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5 risk factors sampled via Z = L·ε where L = cholesky(Σ):</a:t>
            </a:r>
            <a:br/>
            <a:r>
              <a:t>  Σ captures correlations (e.g., ρ(reg,privacy)=0.45).</a:t>
            </a:r>
            <a:br/>
            <a:r>
              <a:t>  10,000 scenarios × 7 years × 5 factors.</a:t>
            </a:r>
            <a:br/>
            <a:r>
              <a:t>Produces full probability distribution with P10/P50/P90</a:t>
            </a:r>
            <a:br/>
            <a:r>
              <a:t>confidence intervals for risk-adjusted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Full model code and configuration available at github.com/revenue-horizon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C: Regulatory drag and privacy signal loss are the widest uncertainty bands in the forecast</a:t>
            </a:r>
          </a:p>
        </p:txBody>
      </p:sp>
      <p:pic>
        <p:nvPicPr>
          <p:cNvPr id="3" name="Picture 2" descr="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3657600"/>
          </a:xfrm>
          <a:prstGeom prst="rect">
            <a:avLst/>
          </a:prstGeom>
        </p:spPr>
      </p:pic>
      <p:pic>
        <p:nvPicPr>
          <p:cNvPr id="4" name="Picture 3" descr="monte_carlo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4114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One-at-a-time sensitivity analysis (±1σ perturbation), correlated Monte Carlo (10,000 runs)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