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Revenue Horizon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7EB6D9"/>
                </a:solidFill>
              </a:defRPr>
            </a:pPr>
            <a:r>
              <a:t>AI-Driven 5-Year Revenue Forecasting Framework</a:t>
            </a:r>
            <a:br/>
            <a:r>
              <a:t>for Digital Advertising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EB6D9"/>
                </a:solidFill>
              </a:defRPr>
            </a:pPr>
            <a:r>
              <a:t>March 2026  |  Strategic Planning &amp; Revenue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AI-driven capabilities add ~$34B incremental revenue by 2030, growing total advertising revenue at 11% CAGR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05840"/>
            <a:ext cx="196596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7EB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59" y="1115568"/>
            <a:ext cx="1874519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4400" b="1">
                <a:solidFill>
                  <a:srgbClr val="1E2761"/>
                </a:solidFill>
              </a:defRPr>
            </a:pPr>
            <a:r>
              <a:t>$309B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59" y="18288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2030 Revenue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1005840"/>
            <a:ext cx="196596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7EB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1115568"/>
            <a:ext cx="1874519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4400" b="1">
                <a:solidFill>
                  <a:srgbClr val="1E2761"/>
                </a:solidFill>
              </a:defRPr>
            </a:pPr>
            <a:r>
              <a:t>11.0%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8288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AI Contribution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59" y="1005840"/>
            <a:ext cx="196596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7EB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115568"/>
            <a:ext cx="1874519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4400" b="1">
                <a:solidFill>
                  <a:srgbClr val="1E2761"/>
                </a:solidFill>
              </a:defRPr>
            </a:pPr>
            <a:r>
              <a:t>11.4%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18288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5-Year CAGR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19" y="1005840"/>
            <a:ext cx="196596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7EB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39" y="1115568"/>
            <a:ext cx="1874519" cy="64008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4400" b="1">
                <a:solidFill>
                  <a:srgbClr val="1E2761"/>
                </a:solidFill>
              </a:defRPr>
            </a:pPr>
            <a:r>
              <a:t>24.1%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39" y="1828800"/>
            <a:ext cx="18745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Market Share 2030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E293B"/>
                </a:solidFill>
              </a:defRPr>
            </a:pPr>
            <a:r>
              <a:t>Growth decelerates from 15% (2025) to 10% (2030) as the base matures, with AI channels contributing an increasing share. The forecast blends Holt-Winters exponential smoothing with mean-reverting growth rates, overlaid by Bass diffusion AI adoption models across six channels. Risk quantification via 10,000 correlated Monte Carlo simulations yields P10-P90 range of $212B-$391B for 2030.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SEC 10-K filings (2019-2024), proprietary forecasting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The $740B digital ad market is projected to reach $1.4T by 2030, with AI expanding the total addressable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</a:defRPr>
            </a:pPr>
            <a:r>
              <a:t>Global digital advertising grew 10.7% CAGR over the past 5 years and is expected to maintain high single-digit growth as AI creates net-new inventory and lowers SMB entry barriers.</a:t>
            </a:r>
            <a:br/>
            <a:br/>
            <a:r>
              <a:t>Key structural shifts:</a:t>
            </a:r>
            <a:br/>
            <a:r>
              <a:t>• Social format growing at 10% vs. search at 6%</a:t>
            </a:r>
            <a:br/>
            <a:r>
              <a:t>• Retail media emerging at 18% CAGR</a:t>
            </a:r>
            <a:br/>
            <a:r>
              <a:t>• AI-native ad formats growing at 45% from a small base</a:t>
            </a:r>
            <a:br/>
            <a:r>
              <a:t>• Privacy regulation reshaping the signal landscape</a:t>
            </a:r>
          </a:p>
        </p:txBody>
      </p:sp>
      <p:pic>
        <p:nvPicPr>
          <p:cNvPr id="4" name="Picture 3" descr="market_shar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39319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eMarketer, Zenith Media, internal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Advertising revenue grew 131% from 2019 to 2024, driven by mobile, video, and programmatic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</a:defRPr>
            </a:pPr>
            <a:r>
              <a:t>Revenue trajectory ($B):</a:t>
            </a:r>
            <a:br/>
            <a:r>
              <a:t>  2019:  $69.7B</a:t>
            </a:r>
            <a:br/>
            <a:r>
              <a:t>  2020:  $84.2B  (+21%)</a:t>
            </a:r>
            <a:br/>
            <a:r>
              <a:t>  2021:  $114.9B (+37%)</a:t>
            </a:r>
            <a:br/>
            <a:r>
              <a:t>  2022:  $113.6B (-1%) — ATT impact</a:t>
            </a:r>
            <a:br/>
            <a:r>
              <a:t>  2023:  $132.0B (+16%) — recovery</a:t>
            </a:r>
            <a:br/>
            <a:r>
              <a:t>  2024:  $160.9B (+22%) — AI products</a:t>
            </a:r>
            <a:br/>
            <a:br/>
            <a:r>
              <a:t>The 2022 dip and 2024 recovery demonstrate the platform's resilience and the revenue impact of AI-powered ad products (Advantage+).</a:t>
            </a:r>
          </a:p>
        </p:txBody>
      </p:sp>
      <p:pic>
        <p:nvPicPr>
          <p:cNvPr id="4" name="Picture 3" descr="revenue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39319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SEC 10-K annual filings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 three-layer ensemble approach combines statistical rigor with domain-specific AI adoption modeling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" cy="32004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7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Layer 1: Holt-Winters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24027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Triple exponential smoothing with multiplicative seasonality and damped trend (φ=0.88). Captures Q4 holiday spikes and organic growth trajectory. Blended with Ornstein-Uhlenbeck mean-reverting growth rates to prevent long-horizon extrapolation bias.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09728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46120" y="1097280"/>
            <a:ext cx="54864" cy="32004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207007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Layer 2: Bass Diffusion AI Overlay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554480"/>
            <a:ext cx="224027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Six AI revenue channels modeled via Bass diffusion: F(t) = [1-e^{-(p+q)t}] / [1+(q/p)e^{-(p+q)t}]. Innovation (p) and imitation (q) coefficients calibrated per channel maturity. Cross-channel cannibalization matrix nets out displacement effects.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09728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097280"/>
            <a:ext cx="54864" cy="32004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207007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Layer 3: Correlated Monte Carlo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554480"/>
            <a:ext cx="2240279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10,000 scenarios via Cholesky-decomposed correlated risk factors. Five dimensions: macro growth, AI adoption speed, competitive intensity, regulatory drag, and privacy signal loss. Correlation structure captures interdependencies (e.g., ρ=0.45 between regulation and privacy).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See Appendix for full algorithm specification and parameter tables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Base case projects $309B by 2030, with growth decelerating from 15% to 10% as the revenue base matures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</a:defRPr>
            </a:pPr>
            <a:r>
              <a:t>Year-by-year projection ($B):</a:t>
            </a:r>
            <a:br/>
            <a:r>
              <a:t>  2025:  $187B  (15.3% YoY)</a:t>
            </a:r>
            <a:br/>
            <a:r>
              <a:t>  2026:  $210B  (12.3%)</a:t>
            </a:r>
            <a:br/>
            <a:r>
              <a:t>  2027:  $232B  (10.6%)</a:t>
            </a:r>
            <a:br/>
            <a:r>
              <a:t>  2028:  $256B  (10.1%)</a:t>
            </a:r>
            <a:br/>
            <a:r>
              <a:t>  2029:  $281B  (10.0%)</a:t>
            </a:r>
            <a:br/>
            <a:r>
              <a:t>  2030:  $309B  (10.0%)</a:t>
            </a:r>
            <a:br/>
            <a:br/>
            <a:r>
              <a:t>Growth rate mean-reverts toward 5.5% long-run equilibrium via O-U process. Near-term momentum from Advantage+ and Reels sustains double-digit growth through 2028.</a:t>
            </a:r>
          </a:p>
        </p:txBody>
      </p:sp>
      <p:pic>
        <p:nvPicPr>
          <p:cNvPr id="4" name="Picture 3" descr="revenue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39319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Ensemble forecast (Holt-Winters + mean-reversion blend)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AI targeting and measurement drive 90%+ of AI revenue; nascent channels represent long-term optionality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</a:defRPr>
            </a:pPr>
            <a:r>
              <a:t>2030 AI channel contribution ($B):</a:t>
            </a:r>
            <a:br/>
            <a:r>
              <a:t>  AI Targeting (Advantage+):     $22.5B  (66%)</a:t>
            </a:r>
            <a:br/>
            <a:r>
              <a:t>  AI Measurement &amp; Attribution:  $14.9B  (27%)</a:t>
            </a:r>
            <a:br/>
            <a:r>
              <a:t>  AI Creative Generation:        $1.8B   (5%)</a:t>
            </a:r>
            <a:br/>
            <a:r>
              <a:t>  AI Business Messaging:         $0.6B   (2%)</a:t>
            </a:r>
            <a:br/>
            <a:r>
              <a:t>  AI-Native Surfaces:            $0.1B   (&lt;1%)</a:t>
            </a:r>
            <a:br/>
            <a:r>
              <a:t>  AI Infrastructure APIs:        $0.1B   (&lt;1%)</a:t>
            </a:r>
            <a:br/>
            <a:br/>
            <a:r>
              <a:t>Bass diffusion parameters reflect maturity: targeting (p=0.04, q=0.42) reaches 85% ceiling; nascent surfaces (p=0.015, q=0.28) have longer runway.</a:t>
            </a:r>
          </a:p>
        </p:txBody>
      </p:sp>
      <p:pic>
        <p:nvPicPr>
          <p:cNvPr id="4" name="Picture 3" descr="ai_adopti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39319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Bass diffusion model calibrated to observed adoption curves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US &amp; Canada generates 47% of revenue, but APAC shows highest growth potential with rising ARPU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92024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7EB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891B2"/>
                </a:solidFill>
              </a:defRPr>
            </a:pPr>
            <a:r>
              <a:t>47%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US &amp; Canada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$82 ARPU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097280"/>
            <a:ext cx="192024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7EB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28016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891B2"/>
                </a:solidFill>
              </a:defRPr>
            </a:pPr>
            <a:r>
              <a:t>24%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0116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Europe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688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$23 ARPU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097280"/>
            <a:ext cx="192024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7EB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128016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891B2"/>
                </a:solidFill>
              </a:defRPr>
            </a:pPr>
            <a:r>
              <a:t>19%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0116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APAC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9" y="24688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$6 ARPU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1097280"/>
            <a:ext cx="1920240" cy="2194560"/>
          </a:xfrm>
          <a:prstGeom prst="rect">
            <a:avLst/>
          </a:prstGeom>
          <a:solidFill>
            <a:srgbClr val="FFFFFF"/>
          </a:solidFill>
          <a:ln w="25400">
            <a:solidFill>
              <a:srgbClr val="7EB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128016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891B2"/>
                </a:solidFill>
              </a:defRPr>
            </a:pPr>
            <a:r>
              <a:t>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0116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Rest of World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46888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$4 ARPU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</a:defRPr>
            </a:pPr>
            <a:r>
              <a:t>APAC ARPU at $6 vs. $82 in US represents 13x headroom. Regional AI adoption varies: US leads at ~65% by 2030, Europe constrained by GDPR at ~50%, APAC accelerating with mobile-first markets.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10-K regional breakdowns, internal ARPU calculations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Top-down and bottom-up projections converge within 3%, validating the 24% market share assumption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</a:defRPr>
            </a:pPr>
            <a:r>
              <a:t>Reconciliation framework:</a:t>
            </a:r>
            <a:br/>
            <a:r>
              <a:t>  Top-down: $1.4T TAM × 24.1% = $329B</a:t>
            </a:r>
            <a:br/>
            <a:r>
              <a:t>  Bottom-up: Channel build = $309B</a:t>
            </a:r>
            <a:br/>
            <a:r>
              <a:t>  Gap: 6% → indicates modest upside optionality</a:t>
            </a:r>
            <a:br/>
            <a:br/>
            <a:r>
              <a:t>Share tailwinds (+2.1% annual):</a:t>
            </a:r>
            <a:br/>
            <a:r>
              <a:t>  AI product superiority, messaging commerce,</a:t>
            </a:r>
            <a:br/>
            <a:r>
              <a:t>  short-video capture, SMB acquisition</a:t>
            </a:r>
            <a:br/>
            <a:br/>
            <a:r>
              <a:t>Share headwinds (-1.7% annual):</a:t>
            </a:r>
            <a:br/>
            <a:r>
              <a:t>  Retail media migration, search AI disruption,</a:t>
            </a:r>
            <a:br/>
            <a:r>
              <a:t>  regulatory share caps, CTV brand budgets</a:t>
            </a:r>
          </a:p>
        </p:txBody>
      </p:sp>
      <p:pic>
        <p:nvPicPr>
          <p:cNvPr id="4" name="Picture 3" descr="reconcil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39319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Market sizing model, competitive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Privacy signal loss reaches 27% in US by 2030, but AI-based recovery mechanisms offset most of the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</a:defRPr>
            </a:pPr>
            <a:r>
              <a:t>Signal degradation factors:</a:t>
            </a:r>
            <a:br/>
            <a:r>
              <a:t>  • OS-level restrictions (ATT-style): 20% signal loss</a:t>
            </a:r>
            <a:br/>
            <a:r>
              <a:t>  • Regulatory consent decay: 3% annual</a:t>
            </a:r>
            <a:br/>
            <a:r>
              <a:t>  • Cookie deprecation: 12% by 2027</a:t>
            </a:r>
            <a:br/>
            <a:r>
              <a:t>  • User privacy adoption: 5% annual growth</a:t>
            </a:r>
            <a:br/>
            <a:br/>
            <a:r>
              <a:t>AI-powered recovery mechanisms:</a:t>
            </a:r>
            <a:br/>
            <a:r>
              <a:t>  • On-device inference: 30% recovery</a:t>
            </a:r>
            <a:br/>
            <a:r>
              <a:t>  • Probabilistic modeling: 85% accuracy</a:t>
            </a:r>
            <a:br/>
            <a:r>
              <a:t>  • Privacy-enhancing technologies: 20% recovery</a:t>
            </a:r>
            <a:br/>
            <a:r>
              <a:t>  • First-party data enrichment: 1.25x amplification</a:t>
            </a:r>
            <a:br/>
            <a:br/>
            <a:r>
              <a:t>Net privacy multiplier by region (2030):</a:t>
            </a:r>
            <a:br/>
            <a:r>
              <a:t>  US: 0.73x  |  EU: 0.72x  |  APAC: 0.79x</a:t>
            </a:r>
          </a:p>
        </p:txBody>
      </p:sp>
      <p:pic>
        <p:nvPicPr>
          <p:cNvPr id="4" name="Picture 3" descr="privacy_multiplier_b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393192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Regulatory scenario modeling, privacy tech landscape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Integrity investment of 3% of revenue sustains an integrity score above 65, preventing CPM erosion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840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" cy="164592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7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Integrity Health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520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Composite score (0-100) tracking: ad authenticity rate, bot detection coverage, fraud prevention efficacy, and content quality distribution. Score declines from 76 (2024) to 68 (2030) under base case as AI-generated misinformation grows 15% annually. Each 10-point drop costs ~1.5% CPM.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09728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097280"/>
            <a:ext cx="54864" cy="164592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207007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Brand Safety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554480"/>
            <a:ext cx="3794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AI content classification, contextual relevance scoring, and viewability standards. Brand safety incidents trigger advertiser spend pullback at 0.3x elasticity. Proactive detection reduces incident frequency by 60% vs. reactive approach.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3840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54864" cy="146304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2724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Investment ROI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3520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3% of revenue ($6.5B by 2030) allocated to integrity infrastructure. Payback: every $1 invested prevents $3.2 in CPM erosion and advertiser churn. 2-quarter lag between investment and score improvement creates planning constraint.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017520"/>
            <a:ext cx="41148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3017520"/>
            <a:ext cx="54864" cy="146304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3127248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Feedback Loop Dynamics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474720"/>
            <a:ext cx="3794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Higher integrity → better ad quality → higher trust → stronger CPM → more revenue → more investment capacity. The virtuous cycle compounds: a 5-point score improvement generates ~$800M annual revenue uplift through CPM preservation.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Internal integrity metrics, advertiser survey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Monte Carlo simulation yields $212B-$391B range (P10-P90), with regulatory drag as the widest uncertainty band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56032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6A34A"/>
                </a:solidFill>
              </a:defRPr>
            </a:pPr>
            <a:r>
              <a:t>Bull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6A34A"/>
                </a:solidFill>
              </a:defRPr>
            </a:pPr>
            <a:r>
              <a:t>$348B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13.7% CAGR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097280"/>
            <a:ext cx="256032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1887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E2761"/>
                </a:solidFill>
              </a:defRPr>
            </a:pPr>
            <a:r>
              <a:t>Base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554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E2761"/>
                </a:solidFill>
              </a:defRPr>
            </a:pPr>
            <a:r>
              <a:t>$309B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01168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11.4% CAGR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097280"/>
            <a:ext cx="2560320" cy="1371600"/>
          </a:xfrm>
          <a:prstGeom prst="rect">
            <a:avLst/>
          </a:prstGeom>
          <a:solidFill>
            <a:srgbClr val="FFFFFF"/>
          </a:solidFill>
          <a:ln w="381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1887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Bear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55448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C2626"/>
                </a:solidFill>
              </a:defRPr>
            </a:pPr>
            <a:r>
              <a:t>$258B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01168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</a:defRPr>
            </a:pPr>
            <a:r>
              <a:t>8.2% CAGR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E293B"/>
                </a:solidFill>
              </a:defRPr>
            </a:pPr>
            <a:r>
              <a:t>Key sensitivity drivers (5-year cumulative impact):</a:t>
            </a:r>
            <a:br/>
            <a:r>
              <a:t>  Macro growth rate:         -10% to +11%</a:t>
            </a:r>
            <a:br/>
            <a:r>
              <a:t>  Regulatory drag:           -7% to -34%  (widest uncertainty)</a:t>
            </a:r>
            <a:br/>
            <a:r>
              <a:t>  Privacy signal loss:       up to -25%</a:t>
            </a:r>
            <a:br/>
            <a:r>
              <a:t>  Competitive intensity:     -12% to +12%</a:t>
            </a:r>
            <a:br/>
            <a:r>
              <a:t>  AI adoption speed:         -4% to +4%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Correlated Monte Carlo simulation (10,000 runs, Cholesky decomposition)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AI efficiency flywheel compounds gains across the full ads cycle for all four stakeholder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</a:defRPr>
            </a:pPr>
            <a:r>
              <a:t>Each stakeholder's efficiency feeds the next — creating an accelerating virtuous cycle that drives both revenue expansion and margin improvement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143000"/>
            <a:ext cx="2011680" cy="2743200"/>
          </a:xfrm>
          <a:prstGeom prst="rect">
            <a:avLst/>
          </a:prstGeom>
          <a:solidFill>
            <a:srgbClr val="7EB6D9"/>
          </a:solidFill>
          <a:ln w="381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143000"/>
            <a:ext cx="2011680" cy="54864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2618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761"/>
                </a:solidFill>
              </a:defRPr>
            </a:pPr>
            <a:r>
              <a:t>ADVERTISERS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4813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891B2"/>
                </a:solidFill>
              </a:defRPr>
            </a:pPr>
            <a:r>
              <a:t>+28%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8836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2761"/>
                </a:solidFill>
              </a:defRPr>
            </a:pPr>
            <a:r>
              <a:t>Revenue Expansion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1488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Campaign setup: -40%</a:t>
            </a:r>
            <a:br/>
            <a:r>
              <a:t>Creative variants: 5x</a:t>
            </a:r>
            <a:br/>
            <a:r>
              <a:t>ROAS visibility: +25%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Planning → Creative →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0008" y="20116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32888" y="1143000"/>
            <a:ext cx="2011680" cy="2743200"/>
          </a:xfrm>
          <a:prstGeom prst="rect">
            <a:avLst/>
          </a:prstGeom>
          <a:solidFill>
            <a:srgbClr val="7EB6D9"/>
          </a:solidFill>
          <a:ln w="381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32888" y="1143000"/>
            <a:ext cx="2011680" cy="54864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42616" y="12618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761"/>
                </a:solidFill>
              </a:defRPr>
            </a:pPr>
            <a:r>
              <a:t>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42616" y="14813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6A34A"/>
                </a:solidFill>
              </a:defRPr>
            </a:pPr>
            <a:r>
              <a:t>+8%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2616" y="18836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2761"/>
                </a:solidFill>
              </a:defRPr>
            </a:pPr>
            <a:r>
              <a:t>Impression Supply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2616" y="21488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Ad CTR: +35%</a:t>
            </a:r>
            <a:br/>
            <a:r>
              <a:t>Engagement depth: +20%</a:t>
            </a:r>
            <a:br/>
            <a:r>
              <a:t>Ad fatigue: -30%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42616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Relevance → Experience → 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20116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45736" y="1143000"/>
            <a:ext cx="2011680" cy="2743200"/>
          </a:xfrm>
          <a:prstGeom prst="rect">
            <a:avLst/>
          </a:prstGeom>
          <a:solidFill>
            <a:srgbClr val="7EB6D9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45736" y="1143000"/>
            <a:ext cx="2011680" cy="54864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55464" y="12618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761"/>
                </a:solidFill>
              </a:defRPr>
            </a:pPr>
            <a:r>
              <a:t>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5464" y="14813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B5CF6"/>
                </a:solidFill>
              </a:defRPr>
            </a:pPr>
            <a:r>
              <a:t>+18%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5464" y="18836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2761"/>
                </a:solidFill>
              </a:defRPr>
            </a:pPr>
            <a:r>
              <a:t>CPM + Margin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5464" y="21488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Fill rate: +8%</a:t>
            </a:r>
            <a:br/>
            <a:r>
              <a:t>Cost/1K predictions: -45%</a:t>
            </a:r>
            <a:br/>
            <a:r>
              <a:t>Ad approval: 3x faster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55464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Delivery → Infra → Moderation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20116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58583" y="1143000"/>
            <a:ext cx="2011680" cy="2743200"/>
          </a:xfrm>
          <a:prstGeom prst="rect">
            <a:avLst/>
          </a:prstGeom>
          <a:solidFill>
            <a:srgbClr val="7EB6D9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58583" y="1143000"/>
            <a:ext cx="201168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68312" y="12618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761"/>
                </a:solidFill>
              </a:defRPr>
            </a:pPr>
            <a:r>
              <a:t>EMPLOYEES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8312" y="148132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-35%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8312" y="18836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2761"/>
                </a:solidFill>
              </a:defRPr>
            </a:pPr>
            <a:r>
              <a:t>Operational Leverage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8312" y="21488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Review throughput: 3x</a:t>
            </a:r>
            <a:br/>
            <a:r>
              <a:t>Ticket deflection: 60%</a:t>
            </a:r>
            <a:br/>
            <a:r>
              <a:t>Dev velocity: +40%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8312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Ad Review → Support → Engineering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7EB6D9"/>
                </a:solidFill>
              </a:defRPr>
            </a:pPr>
            <a:r>
              <a:t>Flywheel spillover: Adv→User (30%)  ·  User→Platform (40%)  ·  Platform→Emp (25%)  ·  Emp→Adv (35%)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7EB6D9"/>
                </a:solidFill>
              </a:defRPr>
            </a:pPr>
            <a:r>
              <a:t>Strategic Planning &amp; Revenue Analysis | Full-Funnel AI Efficiency Model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Advertisers gain +28% from AI creative and targeting; users see a more modest +8% from relevance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91B2"/>
                </a:solidFill>
              </a:defRPr>
            </a:pPr>
            <a:r>
              <a:t>ADVERTISER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Campaign Planning: 30% → 85%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2801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91B2"/>
                </a:solidFill>
              </a:defRPr>
            </a:pPr>
            <a:r>
              <a:t>+55pp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AI audience insights, budget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Creative Production: 20% → 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8308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91B2"/>
                </a:solidFill>
              </a:defRPr>
            </a:pPr>
            <a:r>
              <a:t>+60pp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42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Generative ad creation, A/B at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Measurement: 35% → 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28600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91B2"/>
                </a:solidFill>
              </a:defRPr>
            </a:pPr>
            <a:r>
              <a:t>+55pp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71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AI attribution, incrementality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761"/>
                </a:solidFill>
              </a:defRPr>
            </a:pPr>
            <a:r>
              <a:t>Segment Lift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004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SMB (42%)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2004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91B2"/>
                </a:solidFill>
              </a:defRPr>
            </a:pPr>
            <a:r>
              <a:t>+35%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021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Mid-Market (28%)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5021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91B2"/>
                </a:solidFill>
              </a:defRPr>
            </a:pPr>
            <a:r>
              <a:t>+28%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0390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Enterprise (20%)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8039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91B2"/>
                </a:solidFill>
              </a:defRPr>
            </a:pPr>
            <a:r>
              <a:t>+18%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0565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Agency (10%)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10565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891B2"/>
                </a:solidFill>
              </a:defRPr>
            </a:pPr>
            <a:r>
              <a:t>+30%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6A34A"/>
                </a:solidFill>
              </a:defRPr>
            </a:pPr>
            <a:r>
              <a:t>USER EFFICIENCY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12801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Ad Relevance: 40% → 88%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12801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+48pp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14813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Predictive relevance scoring, fatigue reduction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17830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Experience Quality: 25% → 70%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178308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+45pp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19842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Native AI formats, deep personalization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228600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Content Trust: 50% → 85%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28600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+35pp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24871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Automated moderation, brand safety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2926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761"/>
                </a:solidFill>
              </a:defRPr>
            </a:pPr>
            <a:r>
              <a:t>Segment Lift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20040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DAU Core (55%)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2004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+6%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5021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MAU Casual (30%)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5021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+10%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380390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New/Reactivated (10%)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8039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+12%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410565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Commerce-Intent (5%)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10565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</a:defRPr>
            </a:pPr>
            <a:r>
              <a:t>+15%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34840" y="914400"/>
            <a:ext cx="18288" cy="3520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Strategic Planning &amp; Revenue Analysis | Ads Cycle Efficiency by Stakeholder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Platform efficiency drives +18% revenue with 6pp margin expansion; employees achieve 3x throughput via AI copilots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</a:defRPr>
            </a:pPr>
            <a:r>
              <a:t>PLATFORM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Ad Delivery: 45% → 92%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2801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+47pp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Smart bidding, auction fill rate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Infra Cost: 35% → 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8308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+50pp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42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Model distillation, quantization, edge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Moderation: 30% → 88%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28600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+58pp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71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Automated content review, 3x approval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761"/>
                </a:solidFill>
              </a:defRPr>
            </a:pPr>
            <a:r>
              <a:t>Segment Lift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00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Auction Engine (30%)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2004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+22%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021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Model Serving (35%)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5021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+45%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0390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Content Systems (20%)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8039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+38%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0565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Data Pipeline (15%)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10565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+25%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34840"/>
            <a:ext cx="3840480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45312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</a:defRPr>
            </a:pPr>
            <a:r>
              <a:t>Additional margin expansion: +6 percentage points by 2030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EMPLOYEE EFFICIENCY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12801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Ad Review: 25% → 82%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12801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+57pp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14813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AI copilot for policy compliance, 3x throughput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178308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Advertiser Support: 20% → 78%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178308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+58pp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19842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Ticket triage + AI responses, 60% deflection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228600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Engineering: 15% → 75%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228600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+60pp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24871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</a:defRPr>
            </a:pPr>
            <a:r>
              <a:t>Code generation, automated testing, velocity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2926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761"/>
                </a:solidFill>
              </a:defRPr>
            </a:pPr>
            <a:r>
              <a:t>Segment Lift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3200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Ad Review Team (35%)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32004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+57%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35021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Support &amp; Success (25%)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50215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+48%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380390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Product &amp; Eng (25%)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3803904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+40%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0" y="410565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Data Science (15%)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4105656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+32%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4434840"/>
            <a:ext cx="384048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83480" y="445312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293B"/>
                </a:solidFill>
              </a:defRPr>
            </a:pPr>
            <a:r>
              <a:t>Cost per $1B revenue managed: -35% by 2030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34840" y="914400"/>
            <a:ext cx="18288" cy="3886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Strategic Planning &amp; Revenue Analysis | Platform &amp; Employee Efficiency Model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Four strategic imperatives emerge from the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3931920" cy="1554480"/>
          </a:xfrm>
          <a:prstGeom prst="rect">
            <a:avLst/>
          </a:prstGeom>
          <a:solidFill>
            <a:srgbClr val="7EB6D9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566928" y="1005840"/>
            <a:ext cx="292608" cy="292608"/>
          </a:xfrm>
          <a:prstGeom prst="parallelogram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005840"/>
            <a:ext cx="29260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00584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761"/>
                </a:solidFill>
              </a:defRPr>
            </a:pPr>
            <a:r>
              <a:t>Accelerate AI Ad 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37160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Invest in proprietary AI for creative generation and targeting. AI channels represent $34B opportunity by 2030 — first-mover advantage in Advantage+ and AI-native surfaces is the highest-leverage bet.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914400"/>
            <a:ext cx="3931920" cy="1554480"/>
          </a:xfrm>
          <a:prstGeom prst="rect">
            <a:avLst/>
          </a:prstGeom>
          <a:solidFill>
            <a:srgbClr val="7EB6D9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allelogram 8"/>
          <p:cNvSpPr/>
          <p:nvPr/>
        </p:nvSpPr>
        <p:spPr>
          <a:xfrm>
            <a:off x="4864608" y="1005840"/>
            <a:ext cx="292608" cy="292608"/>
          </a:xfrm>
          <a:prstGeom prst="parallelogram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4608" y="1005840"/>
            <a:ext cx="29260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00584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761"/>
                </a:solidFill>
              </a:defRPr>
            </a:pPr>
            <a:r>
              <a:t>Deploy AI Efficiency Across the Full Ads 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37160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AI efficiency flywheel compounds +28% advertiser lift, +18% platform CPM, and -35% employee cost. Stakeholder spillovers create a virtuous cycle — each 10pp of advertiser efficiency generates 3pp of platform gain through higher-quality demand.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834640"/>
            <a:ext cx="3931920" cy="1554480"/>
          </a:xfrm>
          <a:prstGeom prst="rect">
            <a:avLst/>
          </a:prstGeom>
          <a:solidFill>
            <a:srgbClr val="7EB6D9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566928" y="2926080"/>
            <a:ext cx="292608" cy="292608"/>
          </a:xfrm>
          <a:prstGeom prst="parallelogram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926080"/>
            <a:ext cx="29260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92608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761"/>
                </a:solidFill>
              </a:defRPr>
            </a:pPr>
            <a:r>
              <a:t>Fortify Privacy &amp; Integrity as Revenue Enablers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29184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Signal loss of 27% by 2030 and rising AI-generated misinformation demand unified investment. PETs recover 75% of lost signal while integrity spend at 3% of revenue prevents 3.2x that in CPM erosion — together they protect $18B+ in at-risk revenue.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834640"/>
            <a:ext cx="3931920" cy="1554480"/>
          </a:xfrm>
          <a:prstGeom prst="rect">
            <a:avLst/>
          </a:prstGeom>
          <a:solidFill>
            <a:srgbClr val="7EB6D9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arallelogram 18"/>
          <p:cNvSpPr/>
          <p:nvPr/>
        </p:nvSpPr>
        <p:spPr>
          <a:xfrm>
            <a:off x="4864608" y="2926080"/>
            <a:ext cx="292608" cy="292608"/>
          </a:xfrm>
          <a:prstGeom prst="parallelogram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8" y="2926080"/>
            <a:ext cx="29260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92608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761"/>
                </a:solidFill>
              </a:defRPr>
            </a:pPr>
            <a:r>
              <a:t>Monitor Competitive Dynamics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329184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Retail media (+18% CAGR) and AI-native search formats are the fastest-growing competitive threats. Budget migration tracking and rapid feature parity in AI ad tools are essential to defending share.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Appendix A: Key assumptions and data sources underlying the forecast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229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097280"/>
                <a:gridCol w="4023360"/>
              </a:tblGrid>
              <a:tr h="43434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2030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Organic Growth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13.7%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O-U mean-reversion model (θ=5.5%, κ=0.50)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AI Revenue Share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2.0%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11.0%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Bass diffusion (6 channels)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Privacy Signal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-5%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-27%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Regulatory scenario modeling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Market Share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22.1%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24.1%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Top-down TAM × share framework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AI Adoption (Targeting)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Bass diffusion (p=0.04, q=0.42)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Integrity Score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75/100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68/100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Content quality decay model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Digital Ad TAM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$819B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$1,365B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Format-weighted market sizing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SEC 10-K filings (2019-2024), eMarketer, proprietary models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Appendix B: Forecasting algorithm — ensemble of four statistical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3886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4864" cy="18288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1. Holt-Winters Triple Exponential Smoothing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566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Decomposes quarterly revenue into level (Lt), trend (Tt), and seasonal (St) components with multiplicative seasonality:</a:t>
            </a:r>
            <a:br/>
            <a:r>
              <a:t>  Lt = α(Yt/St-m) + (1-α)(Lt-1 + φTt-1)</a:t>
            </a:r>
            <a:br/>
            <a:r>
              <a:t>  Tt = β(Lt - Lt-1) + (1-β)φTt-1</a:t>
            </a:r>
            <a:br/>
            <a:r>
              <a:t>  St = γ(Yt/Lt) + (1-γ)St-m</a:t>
            </a:r>
            <a:br/>
            <a:r>
              <a:t>Parameters: α=0.40, β=0.15, γ=0.30, φ=0.88 (damped trend).</a:t>
            </a:r>
            <a:br/>
            <a:r>
              <a:t>Damping prevents runaway extrapolation over the 5-year horizon.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0058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005840"/>
            <a:ext cx="54864" cy="18288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115568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2. Ornstein-Uhlenbeck Mean-Reverting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463040"/>
            <a:ext cx="3794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Growth rate follows a mean-reverting stochastic process:</a:t>
            </a:r>
            <a:br/>
            <a:r>
              <a:t>  dg = κ(θ - g)dt + σdW</a:t>
            </a:r>
            <a:br/>
            <a:r>
              <a:t>where g₀=21.9% (2024), θ=5.5% (long-run equilibrium),</a:t>
            </a:r>
            <a:br/>
            <a:r>
              <a:t>κ=0.50 (reversion speed), σ=1.5% (volatility).</a:t>
            </a:r>
            <a:br/>
            <a:r>
              <a:t>Ensemble: HW weight 60%→20% (near→far), MR weight 40%→80%.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08960"/>
            <a:ext cx="3886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54864" cy="1645920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3. Bass Diffusion (AI Adoption)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Technology adoption follows:</a:t>
            </a:r>
            <a:br/>
            <a:r>
              <a:t>  F(t) = [1-e^{-(p+q)t}] / [1+(q/p)e^{-(p+q)t}]</a:t>
            </a:r>
            <a:br/>
            <a:r>
              <a:t>p = innovation (0.015-0.04), q = imitation (0.28-0.42).</a:t>
            </a:r>
            <a:br/>
            <a:r>
              <a:t>Each of 6 AI channels independently parameterized.</a:t>
            </a:r>
            <a:br/>
            <a:r>
              <a:t>Cannibalization matrix applied post-adoption to net out displacement.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10896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3108960"/>
            <a:ext cx="54864" cy="164592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3218688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761"/>
                </a:solidFill>
              </a:defRPr>
            </a:pPr>
            <a:r>
              <a:t>4. Correlated Monte Carlo (Cholesky)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566160"/>
            <a:ext cx="3794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t>5 risk factors sampled via Z = L·ε where L = cholesky(Σ):</a:t>
            </a:r>
            <a:br/>
            <a:r>
              <a:t>  Σ captures correlations (e.g., ρ(reg,privacy)=0.45).</a:t>
            </a:r>
            <a:br/>
            <a:r>
              <a:t>  10,000 scenarios × 7 years × 5 factors.</a:t>
            </a:r>
            <a:br/>
            <a:r>
              <a:t>Produces full probability distribution with P10/P50/P90</a:t>
            </a:r>
            <a:br/>
            <a:r>
              <a:t>confidence intervals for risk-adjusted planning.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Full model code and configuration available at github.com/revenue-horizon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Appendix C: Regulatory drag and privacy signal loss are the widest uncertainty bands in the forecast</a:t>
            </a:r>
          </a:p>
        </p:txBody>
      </p:sp>
      <p:pic>
        <p:nvPicPr>
          <p:cNvPr id="3" name="Picture 2" descr="sensitivity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114800" cy="3657600"/>
          </a:xfrm>
          <a:prstGeom prst="rect">
            <a:avLst/>
          </a:prstGeom>
        </p:spPr>
      </p:pic>
      <p:pic>
        <p:nvPicPr>
          <p:cNvPr id="4" name="Picture 3" descr="monte_carlo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05840"/>
            <a:ext cx="41148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One-at-a-time sensitivity analysis (±1σ perturbation), correlated Monte Carlo (10,000 runs)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Appendix D: AI efficiency flywheel uses Bass Diffusion adoption with cross-stakeholder spillover coefficients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891B2"/>
                </a:solidFill>
              </a:defRPr>
            </a:pPr>
            <a:r>
              <a:t>MODEL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3931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E293B"/>
                </a:solidFill>
              </a:defRPr>
            </a:pPr>
            <a:r>
              <a:t>Per-stakeholder efficiency:</a:t>
            </a:r>
            <a:br/>
            <a:r>
              <a:t>  E_s(t) = base_s + (ceiling_s - base_s) × F(t; p_s, q_s)</a:t>
            </a:r>
            <a:br/>
            <a:br/>
            <a:r>
              <a:t>Bass Diffusion adoption:</a:t>
            </a:r>
            <a:br/>
            <a:r>
              <a:t>  F(t) = [1 - e^{-(p+q)t}] / [1 + (q/p)e^{-(p+q)t}]</a:t>
            </a:r>
            <a:br/>
            <a:br/>
            <a:r>
              <a:t>Flywheel multiplier with spillovers:</a:t>
            </a:r>
            <a:br/>
            <a:r>
              <a:t>  M_s(t) = E_s(t) × (1 + Σ_{k→s} α_{k→s} × E_k(t))</a:t>
            </a:r>
            <a:br/>
            <a:br/>
            <a:r>
              <a:t>Revenue impact:</a:t>
            </a:r>
            <a:br/>
            <a:r>
              <a:t>  ΔR(t) = Σ_s  R_base(t) × w_s × (M_s(t) - M_s(0))</a:t>
            </a:r>
            <a:br/>
            <a:r>
              <a:t>  w_s = stakeholder weight in revenue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2761"/>
                </a:solidFill>
              </a:defRPr>
            </a:pPr>
            <a:r>
              <a:t>SPILLOVER COEFFICIENT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754880" y="1280160"/>
          <a:ext cx="39319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731520"/>
                <a:gridCol w="731520"/>
                <a:gridCol w="731520"/>
                <a:gridCol w="731520"/>
              </a:tblGrid>
              <a:tr h="310896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From \ To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Adv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User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Platform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Employee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Advertiser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4748B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891B2"/>
                          </a:solidFill>
                        </a:rP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4748B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4748B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User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4748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4748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891B2"/>
                          </a:solidFill>
                        </a:rPr>
                        <a:t>0.40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4748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Platform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4748B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4748B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4748B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891B2"/>
                          </a:solidFill>
                        </a:rPr>
                        <a:t>0.25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Employee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891B2"/>
                          </a:solidFill>
                        </a:rPr>
                        <a:t>0.35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4748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4748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4748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754880" y="30175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761"/>
                </a:solidFill>
              </a:defRPr>
            </a:pPr>
            <a:r>
              <a:t>BASS DIFFUSION PARAMETERS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754880" y="3337560"/>
          <a:ext cx="39319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914400"/>
                <a:gridCol w="1005840"/>
              </a:tblGrid>
              <a:tr h="274320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Stakeholder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p (innov)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q (imit)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Ceiling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Advertiser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0.035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85%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User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0.020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0.30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70%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0.040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92%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Employee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0.030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0.38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</a:rPr>
                        <a:t>82%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See forecasting_engine.py → EfficiencyFlywheelModel for implementation details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761"/>
                </a:solidFill>
              </a:defRPr>
            </a:pPr>
            <a:r>
              <a:t>Appendix E: Full segment-level efficiency parameters across all four stakeholder groups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60120"/>
          <a:ext cx="859536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463040"/>
                <a:gridCol w="731520"/>
                <a:gridCol w="731520"/>
                <a:gridCol w="4480560"/>
              </a:tblGrid>
              <a:tr h="220531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Stakeholder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Segment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Share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Lift %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Ads Cycle Stage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891B2"/>
                          </a:solidFill>
                        </a:rPr>
                        <a:t>Advertiser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42%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891B2"/>
                          </a:solidFill>
                        </a:rPr>
                        <a:t>+35%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Planning → Creative → Measurement</a:t>
                      </a:r>
                    </a:p>
                  </a:txBody>
                  <a:tcPr/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891B2"/>
                          </a:solidFill>
                        </a:rPr>
                        <a:t>Advertiser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Mid-Market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891B2"/>
                          </a:solidFill>
                        </a:rPr>
                        <a:t>+28%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Creative → Measurement</a:t>
                      </a:r>
                    </a:p>
                  </a:txBody>
                  <a:tcPr/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891B2"/>
                          </a:solidFill>
                        </a:rPr>
                        <a:t>Advertiser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Enterprise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891B2"/>
                          </a:solidFill>
                        </a:rPr>
                        <a:t>+18%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Measurement → Planning</a:t>
                      </a:r>
                    </a:p>
                  </a:txBody>
                  <a:tcPr/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891B2"/>
                          </a:solidFill>
                        </a:rPr>
                        <a:t>Advertiser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Agency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891B2"/>
                          </a:solidFill>
                        </a:rPr>
                        <a:t>+30%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Creative → Planning</a:t>
                      </a:r>
                    </a:p>
                  </a:txBody>
                  <a:tcPr/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A34A"/>
                          </a:solidFill>
                        </a:rPr>
                        <a:t>User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DAU Core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55%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A34A"/>
                          </a:solidFill>
                        </a:rPr>
                        <a:t>+6%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Relevance → Experience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A34A"/>
                          </a:solidFill>
                        </a:rPr>
                        <a:t>User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MAU Casual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30%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A34A"/>
                          </a:solidFill>
                        </a:rPr>
                        <a:t>+10%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Experience → Trust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A34A"/>
                          </a:solidFill>
                        </a:rPr>
                        <a:t>User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New/Reactivated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10%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A34A"/>
                          </a:solidFill>
                        </a:rPr>
                        <a:t>+12%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Relevance → Trust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A34A"/>
                          </a:solidFill>
                        </a:rPr>
                        <a:t>User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Commerce-Intent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6A34A"/>
                          </a:solidFill>
                        </a:rPr>
                        <a:t>+15%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Experience → Relevance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8B5CF6"/>
                          </a:solidFill>
                        </a:rP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Auction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8B5CF6"/>
                          </a:solidFill>
                        </a:rPr>
                        <a:t>+22%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Ad Delivery optimization</a:t>
                      </a:r>
                    </a:p>
                  </a:txBody>
                  <a:tcPr/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8B5CF6"/>
                          </a:solidFill>
                        </a:rP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Model Serving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8B5CF6"/>
                          </a:solidFill>
                        </a:rPr>
                        <a:t>+45%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Infra Cost reduction</a:t>
                      </a:r>
                    </a:p>
                  </a:txBody>
                  <a:tcPr/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8B5CF6"/>
                          </a:solidFill>
                        </a:rP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Content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8B5CF6"/>
                          </a:solidFill>
                        </a:rPr>
                        <a:t>+38%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Moderation → Delivery</a:t>
                      </a:r>
                    </a:p>
                  </a:txBody>
                  <a:tcPr/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8B5CF6"/>
                          </a:solidFill>
                        </a:rPr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Data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8B5CF6"/>
                          </a:solidFill>
                        </a:rPr>
                        <a:t>+25%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Infra Cost → Delivery</a:t>
                      </a:r>
                    </a:p>
                  </a:txBody>
                  <a:tcPr/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59E0B"/>
                          </a:solidFill>
                        </a:rPr>
                        <a:t>Employee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Ad Review Team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35%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59E0B"/>
                          </a:solidFill>
                        </a:rPr>
                        <a:t>+57%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Policy compliance copilot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59E0B"/>
                          </a:solidFill>
                        </a:rPr>
                        <a:t>Employee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Support &amp; Success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25%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59E0B"/>
                          </a:solidFill>
                        </a:rPr>
                        <a:t>+48%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Ticket triage + AI response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20531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59E0B"/>
                          </a:solidFill>
                        </a:rPr>
                        <a:t>Employee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Product &amp; Eng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25%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59E0B"/>
                          </a:solidFill>
                        </a:rPr>
                        <a:t>+40%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Code gen + automated testing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20543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59E0B"/>
                          </a:solidFill>
                        </a:rPr>
                        <a:t>Employee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Data Science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15%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59E0B"/>
                          </a:solidFill>
                        </a:rPr>
                        <a:t>+32%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E293B"/>
                          </a:solidFill>
                        </a:rPr>
                        <a:t>Model monitoring + AutoML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64748B"/>
                </a:solidFill>
              </a:defRPr>
            </a:pPr>
            <a:r>
              <a:t>Source: AI efficiency model calibrated to observed automation adoption rates across digital advertising platforms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